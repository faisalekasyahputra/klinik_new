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934023a60d4a30" /><Relationship Type="http://schemas.openxmlformats.org/officeDocument/2006/relationships/extended-properties" Target="/docProps/app.xml" Id="Rb063823a30a348ff" /><Relationship Type="http://schemas.openxmlformats.org/officeDocument/2006/relationships/officeDocument" Target="/ppt/presentation.xml" Id="R0b905aa5009b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003b93efd4ff9"/>
  </p:sldMasterIdLst>
  <p:notesMasterIdLst>
    <p:notesMasterId xmlns:r="http://schemas.openxmlformats.org/officeDocument/2006/relationships" r:id="Radeafc46d6e24331"/>
  </p:notesMasterIdLst>
  <p:sldIdLst>
    <p:sldId xmlns:r="http://schemas.openxmlformats.org/officeDocument/2006/relationships" id="256" r:id="Rce50350029034abd"/>
    <p:sldId xmlns:r="http://schemas.openxmlformats.org/officeDocument/2006/relationships" id="257" r:id="Rd12ba0ba31e84d30"/>
    <p:sldId xmlns:r="http://schemas.openxmlformats.org/officeDocument/2006/relationships" id="258" r:id="Rf22520d8955845c6"/>
    <p:sldId xmlns:r="http://schemas.openxmlformats.org/officeDocument/2006/relationships" id="259" r:id="Rf4b4286e845f46c8"/>
    <p:sldId xmlns:r="http://schemas.openxmlformats.org/officeDocument/2006/relationships" id="260" r:id="Rf446520e6dd847eb"/>
    <p:sldId xmlns:r="http://schemas.openxmlformats.org/officeDocument/2006/relationships" id="261" r:id="R9916eb62df904ab7"/>
    <p:sldId xmlns:r="http://schemas.openxmlformats.org/officeDocument/2006/relationships" id="262" r:id="Rd7951e24d0584e6f"/>
    <p:sldId xmlns:r="http://schemas.openxmlformats.org/officeDocument/2006/relationships" id="263" r:id="R6bfbb4e5cdb14db8"/>
    <p:sldId xmlns:r="http://schemas.openxmlformats.org/officeDocument/2006/relationships" id="264" r:id="Rb7e28364c56440c8"/>
    <p:sldId xmlns:r="http://schemas.openxmlformats.org/officeDocument/2006/relationships" id="265" r:id="R94d30ec5787944ab"/>
    <p:sldId xmlns:r="http://schemas.openxmlformats.org/officeDocument/2006/relationships" id="266" r:id="Rea7505013b3542b0"/>
    <p:sldId xmlns:r="http://schemas.openxmlformats.org/officeDocument/2006/relationships" id="267" r:id="R9debf1c32a0e4da2"/>
    <p:sldId xmlns:r="http://schemas.openxmlformats.org/officeDocument/2006/relationships" id="268" r:id="Rb4d956d0934d4044"/>
    <p:sldId xmlns:r="http://schemas.openxmlformats.org/officeDocument/2006/relationships" id="269" r:id="R263dbb045ccf403f"/>
    <p:sldId xmlns:r="http://schemas.openxmlformats.org/officeDocument/2006/relationships" id="270" r:id="Rfa6eea4d42064cba"/>
    <p:sldId xmlns:r="http://schemas.openxmlformats.org/officeDocument/2006/relationships" id="271" r:id="R37b740d61c654aa2"/>
    <p:sldId xmlns:r="http://schemas.openxmlformats.org/officeDocument/2006/relationships" id="272" r:id="R032529cd99a7443f"/>
    <p:sldId xmlns:r="http://schemas.openxmlformats.org/officeDocument/2006/relationships" id="273" r:id="Rbf81b885555849e7"/>
    <p:sldId xmlns:r="http://schemas.openxmlformats.org/officeDocument/2006/relationships" id="274" r:id="Rd4bd3dbb0f60459c"/>
    <p:sldId xmlns:r="http://schemas.openxmlformats.org/officeDocument/2006/relationships" id="275" r:id="R6de07cc6642a4838"/>
    <p:sldId xmlns:r="http://schemas.openxmlformats.org/officeDocument/2006/relationships" id="276" r:id="Ree013c0b9da243a9"/>
    <p:sldId xmlns:r="http://schemas.openxmlformats.org/officeDocument/2006/relationships" id="277" r:id="R468647995cad4d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089069b92248bf" /><Relationship Type="http://schemas.openxmlformats.org/officeDocument/2006/relationships/slideMaster" Target="/ppt/slideMasters/slideMaster1.xml" Id="R1f1003b93efd4ff9" /><Relationship Type="http://schemas.openxmlformats.org/officeDocument/2006/relationships/notesMaster" Target="/ppt/notesMasters/notesMaster1.xml" Id="Radeafc46d6e24331" /><Relationship Type="http://schemas.openxmlformats.org/officeDocument/2006/relationships/presProps" Target="/ppt/presProps.xml" Id="R621ac7a61b534f1e" /><Relationship Type="http://schemas.openxmlformats.org/officeDocument/2006/relationships/tableStyles" Target="/ppt/tableStyles.xml" Id="R30b1b4c62c40460a" /><Relationship Type="http://schemas.openxmlformats.org/officeDocument/2006/relationships/slide" Target="/ppt/slides/slide1.xml" Id="Rce50350029034abd" /><Relationship Type="http://schemas.openxmlformats.org/officeDocument/2006/relationships/slide" Target="/ppt/slides/slide2.xml" Id="Rd12ba0ba31e84d30" /><Relationship Type="http://schemas.openxmlformats.org/officeDocument/2006/relationships/slide" Target="/ppt/slides/slide3.xml" Id="Rf22520d8955845c6" /><Relationship Type="http://schemas.openxmlformats.org/officeDocument/2006/relationships/slide" Target="/ppt/slides/slide4.xml" Id="Rf4b4286e845f46c8" /><Relationship Type="http://schemas.openxmlformats.org/officeDocument/2006/relationships/slide" Target="/ppt/slides/slide5.xml" Id="Rf446520e6dd847eb" /><Relationship Type="http://schemas.openxmlformats.org/officeDocument/2006/relationships/slide" Target="/ppt/slides/slide6.xml" Id="R9916eb62df904ab7" /><Relationship Type="http://schemas.openxmlformats.org/officeDocument/2006/relationships/slide" Target="/ppt/slides/slide7.xml" Id="Rd7951e24d0584e6f" /><Relationship Type="http://schemas.openxmlformats.org/officeDocument/2006/relationships/slide" Target="/ppt/slides/slide8.xml" Id="R6bfbb4e5cdb14db8" /><Relationship Type="http://schemas.openxmlformats.org/officeDocument/2006/relationships/slide" Target="/ppt/slides/slide9.xml" Id="Rb7e28364c56440c8" /><Relationship Type="http://schemas.openxmlformats.org/officeDocument/2006/relationships/slide" Target="/ppt/slides/slide10.xml" Id="R94d30ec5787944ab" /><Relationship Type="http://schemas.openxmlformats.org/officeDocument/2006/relationships/slide" Target="/ppt/slides/slide11.xml" Id="Rea7505013b3542b0" /><Relationship Type="http://schemas.openxmlformats.org/officeDocument/2006/relationships/slide" Target="/ppt/slides/slide12.xml" Id="R9debf1c32a0e4da2" /><Relationship Type="http://schemas.openxmlformats.org/officeDocument/2006/relationships/slide" Target="/ppt/slides/slide13.xml" Id="Rb4d956d0934d4044" /><Relationship Type="http://schemas.openxmlformats.org/officeDocument/2006/relationships/slide" Target="/ppt/slides/slide14.xml" Id="R263dbb045ccf403f" /><Relationship Type="http://schemas.openxmlformats.org/officeDocument/2006/relationships/slide" Target="/ppt/slides/slide15.xml" Id="Rfa6eea4d42064cba" /><Relationship Type="http://schemas.openxmlformats.org/officeDocument/2006/relationships/slide" Target="/ppt/slides/slide16.xml" Id="R37b740d61c654aa2" /><Relationship Type="http://schemas.openxmlformats.org/officeDocument/2006/relationships/slide" Target="/ppt/slides/slide17.xml" Id="R032529cd99a7443f" /><Relationship Type="http://schemas.openxmlformats.org/officeDocument/2006/relationships/slide" Target="/ppt/slides/slide18.xml" Id="Rbf81b885555849e7" /><Relationship Type="http://schemas.openxmlformats.org/officeDocument/2006/relationships/slide" Target="/ppt/slides/slide19.xml" Id="Rd4bd3dbb0f60459c" /><Relationship Type="http://schemas.openxmlformats.org/officeDocument/2006/relationships/slide" Target="/ppt/slides/slide20.xml" Id="R6de07cc6642a4838" /><Relationship Type="http://schemas.openxmlformats.org/officeDocument/2006/relationships/slide" Target="/ppt/slides/slide21.xml" Id="Ree013c0b9da243a9" /><Relationship Type="http://schemas.openxmlformats.org/officeDocument/2006/relationships/slide" Target="/ppt/slides/slide22.xml" Id="R468647995cad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e57f00a8b0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9da46581834e49" /><Relationship Type="http://schemas.openxmlformats.org/officeDocument/2006/relationships/notesMaster" Target="/ppt/notesMasters/notesMaster1.xml" Id="R6eba1acd5a3a40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c667a3e654ed2" /><Relationship Type="http://schemas.openxmlformats.org/officeDocument/2006/relationships/notesMaster" Target="/ppt/notesMasters/notesMaster1.xml" Id="R2ad90a6eb1c8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985a1ea9db4727" /><Relationship Type="http://schemas.openxmlformats.org/officeDocument/2006/relationships/notesMaster" Target="/ppt/notesMasters/notesMaster1.xml" Id="Rec8bf9fdf843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cab7ad04d14f26" /><Relationship Type="http://schemas.openxmlformats.org/officeDocument/2006/relationships/notesMaster" Target="/ppt/notesMasters/notesMaster1.xml" Id="R580c3a7ac14449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762ee57e64d2c" /><Relationship Type="http://schemas.openxmlformats.org/officeDocument/2006/relationships/notesMaster" Target="/ppt/notesMasters/notesMaster1.xml" Id="R014bab1e91e94c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cf2e2bccd2418d" /><Relationship Type="http://schemas.openxmlformats.org/officeDocument/2006/relationships/notesMaster" Target="/ppt/notesMasters/notesMaster1.xml" Id="R1b630c92ff7c43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3e306cbb6c4bb9" /><Relationship Type="http://schemas.openxmlformats.org/officeDocument/2006/relationships/notesMaster" Target="/ppt/notesMasters/notesMaster1.xml" Id="R9efa5c73e68444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b6bc906662431f" /><Relationship Type="http://schemas.openxmlformats.org/officeDocument/2006/relationships/notesMaster" Target="/ppt/notesMasters/notesMaster1.xml" Id="Rae65c33e63ea41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8c25303c424359" /><Relationship Type="http://schemas.openxmlformats.org/officeDocument/2006/relationships/notesMaster" Target="/ppt/notesMasters/notesMaster1.xml" Id="R7acbbe4593f347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e6700437147ba" /><Relationship Type="http://schemas.openxmlformats.org/officeDocument/2006/relationships/notesMaster" Target="/ppt/notesMasters/notesMaster1.xml" Id="R23b9a02f180e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46d4e61c2e44a9" /><Relationship Type="http://schemas.openxmlformats.org/officeDocument/2006/relationships/notesMaster" Target="/ppt/notesMasters/notesMaster1.xml" Id="R292868628805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322c27a07dd46c5" /><Relationship Type="http://schemas.openxmlformats.org/officeDocument/2006/relationships/notesMaster" Target="/ppt/notesMasters/notesMaster1.xml" Id="R017b8beeaaa64d4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9652560f834930" /><Relationship Type="http://schemas.openxmlformats.org/officeDocument/2006/relationships/notesMaster" Target="/ppt/notesMasters/notesMaster1.xml" Id="R2ce7bbefd50340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865f6757fa4d83" /><Relationship Type="http://schemas.openxmlformats.org/officeDocument/2006/relationships/notesMaster" Target="/ppt/notesMasters/notesMaster1.xml" Id="Ref31e42a2c9149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6d7ca34d544100" /><Relationship Type="http://schemas.openxmlformats.org/officeDocument/2006/relationships/notesMaster" Target="/ppt/notesMasters/notesMaster1.xml" Id="R745bbb2fdc0d49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08b934666d248f5" /><Relationship Type="http://schemas.openxmlformats.org/officeDocument/2006/relationships/notesMaster" Target="/ppt/notesMasters/notesMaster1.xml" Id="R57360f6c17f3491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935135231d4865" /><Relationship Type="http://schemas.openxmlformats.org/officeDocument/2006/relationships/notesMaster" Target="/ppt/notesMasters/notesMaster1.xml" Id="R51cde334c58041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fd3ec228b67483e" /><Relationship Type="http://schemas.openxmlformats.org/officeDocument/2006/relationships/notesMaster" Target="/ppt/notesMasters/notesMaster1.xml" Id="R58522ad6da82438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9ccadc37d54445" /><Relationship Type="http://schemas.openxmlformats.org/officeDocument/2006/relationships/notesMaster" Target="/ppt/notesMasters/notesMaster1.xml" Id="R8ccbde7dc36742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d9279a0955e4277" /><Relationship Type="http://schemas.openxmlformats.org/officeDocument/2006/relationships/notesMaster" Target="/ppt/notesMasters/notesMaster1.xml" Id="Rdec5dd2006c9450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e5a0f498be4b69" /><Relationship Type="http://schemas.openxmlformats.org/officeDocument/2006/relationships/notesMaster" Target="/ppt/notesMasters/notesMaster1.xml" Id="R598567f1a1824e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2c4089e14b4553" /><Relationship Type="http://schemas.openxmlformats.org/officeDocument/2006/relationships/notesMaster" Target="/ppt/notesMasters/notesMaster1.xml" Id="Rd81e86063e5c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visual: screenshot halaman hero cek kelayakan dari pengguna.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application/config/routes.php dan application/config/dashboard_modules.php.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visual: screenshot hero program dari pengguna; rute: Index::golek_omah.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Index.php dan pages/perumahan/cari_rumah.php.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visual: screenshot wizard NIK dari pengguna. Sumber alur: Warga::STEPS dan pages/warga/pendataan.php.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Warga::lookup_anonim(), Auth::_redirect_after_login(), Housing_assessment_model::bootstrap_manual_draft().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visual: screenshot Data Warga dari pengguna. Sumber validasi: Warga::step_errors().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Warga_ruleset::route_candidates/evaluate dan Warga::save().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Warga::assessment_track(), adjacent_step(), dan step_errors().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Warga::submit(), Housing_assessment_model::submit_owned_assessment(), Pengaturan::akun().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application/controllers/Index.php dan views/pages/perumahan/cari_rumah.php.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Index::sertifikasi() dan Pengembang::sertifikasi(). Foto hero dari aset Foto Program.rar yang masuk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Pengembang.php, Auth::do_register(), dan Pengaturan::update_pengembang().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Admin_Srp2.php, dashboard_modules.php, tabel srp2_certified_developers.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Admin_Kabkota.php dan Pengaturan.php.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Rekam_Perumahan.php dan views/admin/rekam/perumahan_wizard.php.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Psu.php, Admin_Psu.php, pages/psu/index.php, admin/psu/index.php.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Umum.php, Admin_Aduan.php, Admin_Bidang.php.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KemitraanPortal.php, Admin_Kemitraan.php, Admin_Kemitraan_Bidang.php.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Pengaturan.php dan dashboard_modules.php.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 alur: MY_Controller.php, Warga.php, Housing_assessment_model.php, Program.php.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Sumber: rangkuman rute dan alur aplikasi lokal.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7b292e5c14d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3154cd859c4a1e" /><Relationship Type="http://schemas.openxmlformats.org/officeDocument/2006/relationships/slideLayout" Target="/ppt/slideLayouts/slideLayout1.xml" Id="Reb982051c6b047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982051c6b047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4434341f94e7c" /><Relationship Type="http://schemas.openxmlformats.org/officeDocument/2006/relationships/image" Target="/ppt/media/image.png" Id="Rb66ef579d33f4f1d" /><Relationship Type="http://schemas.openxmlformats.org/officeDocument/2006/relationships/notesSlide" Target="/ppt/notesSlides/notesSlide1.xml" Id="Raf8104e089054b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2f51218f54676" /><Relationship Type="http://schemas.openxmlformats.org/officeDocument/2006/relationships/notesSlide" Target="/ppt/notesSlides/notesSlide2.xml" Id="Rbf058b2f59d147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26e89613c475b" /><Relationship Type="http://schemas.openxmlformats.org/officeDocument/2006/relationships/image" Target="/ppt/media/image2.png" Id="R6246e956b8684817" /><Relationship Type="http://schemas.openxmlformats.org/officeDocument/2006/relationships/notesSlide" Target="/ppt/notesSlides/notesSlide3.xml" Id="R0c8539023e7f4e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2b7d381b54f30" /><Relationship Type="http://schemas.openxmlformats.org/officeDocument/2006/relationships/notesSlide" Target="/ppt/notesSlides/notesSlide4.xml" Id="R9efdbdfd6ea7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62d8687dc4e36" /><Relationship Type="http://schemas.openxmlformats.org/officeDocument/2006/relationships/image" Target="/ppt/media/image3.png" Id="R1d17b2b896e54f99" /><Relationship Type="http://schemas.openxmlformats.org/officeDocument/2006/relationships/notesSlide" Target="/ppt/notesSlides/notesSlide5.xml" Id="R8d694d9cdf8942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ca1f9990e4115" /><Relationship Type="http://schemas.openxmlformats.org/officeDocument/2006/relationships/notesSlide" Target="/ppt/notesSlides/notesSlide6.xml" Id="Rf924557a1acb47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7d9cb24574056" /><Relationship Type="http://schemas.openxmlformats.org/officeDocument/2006/relationships/image" Target="/ppt/media/image4.png" Id="R7594908d5fe74530" /><Relationship Type="http://schemas.openxmlformats.org/officeDocument/2006/relationships/notesSlide" Target="/ppt/notesSlides/notesSlide7.xml" Id="R56af049c23fb47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880a7e7a745d4" /><Relationship Type="http://schemas.openxmlformats.org/officeDocument/2006/relationships/notesSlide" Target="/ppt/notesSlides/notesSlide8.xml" Id="R5c3fb186d2b24e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ce5e6b75b49fc" /><Relationship Type="http://schemas.openxmlformats.org/officeDocument/2006/relationships/notesSlide" Target="/ppt/notesSlides/notesSlide9.xml" Id="Re6f1a135c51246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680b157e41d0" /><Relationship Type="http://schemas.openxmlformats.org/officeDocument/2006/relationships/notesSlide" Target="/ppt/notesSlides/notesSlide10.xml" Id="Rcd9aa0f7738b43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f72054c5346be" /><Relationship Type="http://schemas.openxmlformats.org/officeDocument/2006/relationships/notesSlide" Target="/ppt/notesSlides/notesSlide11.xml" Id="Rcb2c1c2ec23545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88883f36984389" /><Relationship Type="http://schemas.openxmlformats.org/officeDocument/2006/relationships/image" Target="/ppt/media/image5.png" Id="R9e1364d4a0114829" /><Relationship Type="http://schemas.openxmlformats.org/officeDocument/2006/relationships/notesSlide" Target="/ppt/notesSlides/notesSlide12.xml" Id="R20f7e436b6f541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eb69c07374ea5" /><Relationship Type="http://schemas.openxmlformats.org/officeDocument/2006/relationships/notesSlide" Target="/ppt/notesSlides/notesSlide13.xml" Id="Ra67ef0cdbc634a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4b1fcefef4ee2" /><Relationship Type="http://schemas.openxmlformats.org/officeDocument/2006/relationships/notesSlide" Target="/ppt/notesSlides/notesSlide14.xml" Id="R1e45a9fbf2b4479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5562810954a57" /><Relationship Type="http://schemas.openxmlformats.org/officeDocument/2006/relationships/notesSlide" Target="/ppt/notesSlides/notesSlide15.xml" Id="Rf6ade52f42e64f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e362f62124d18" /><Relationship Type="http://schemas.openxmlformats.org/officeDocument/2006/relationships/notesSlide" Target="/ppt/notesSlides/notesSlide16.xml" Id="Rfa0d2f95eff640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c73614187442b0" /><Relationship Type="http://schemas.openxmlformats.org/officeDocument/2006/relationships/notesSlide" Target="/ppt/notesSlides/notesSlide17.xml" Id="R2a6c9ba498a148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20a09f49640a7" /><Relationship Type="http://schemas.openxmlformats.org/officeDocument/2006/relationships/notesSlide" Target="/ppt/notesSlides/notesSlide18.xml" Id="Rc8f644e669c24d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e95a1c0df4ace" /><Relationship Type="http://schemas.openxmlformats.org/officeDocument/2006/relationships/notesSlide" Target="/ppt/notesSlides/notesSlide19.xml" Id="R27ea4712aec744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18d5360e743f1" /><Relationship Type="http://schemas.openxmlformats.org/officeDocument/2006/relationships/notesSlide" Target="/ppt/notesSlides/notesSlide20.xml" Id="Rd4a3b510b8be4e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7c02a0fea481c" /><Relationship Type="http://schemas.openxmlformats.org/officeDocument/2006/relationships/notesSlide" Target="/ppt/notesSlides/notesSlide21.xml" Id="R27492255274c44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ffaf921364995" /><Relationship Type="http://schemas.openxmlformats.org/officeDocument/2006/relationships/notesSlide" Target="/ppt/notesSlides/notesSlide22.xml" Id="R71dff268e8a144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ef579d33f4f1d"/>
          <a:srcRect xmlns:a="http://schemas.openxmlformats.org/drawingml/2006/main" l="32708" t="0" r="327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oundRect">
            <a:avLst>
              <a:gd name="adj" fmla="val 271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DB5A5-1A74-4E28-B076-E91B79FD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B00"/>
                </a:solidFill>
              </a:defRPr>
            </a:pPr>
            <a:r>
              <a:rPr sz="1200" b="1">
                <a:solidFill>
                  <a:srgbClr val="D6FB00"/>
                </a:solidFill>
              </a:rPr>
              <a:t>KLINIK PKP JAWA TENGAH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B0372-68D0-4FB9-A6C9-38936A3D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42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Pemaparan alur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aplikasi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A3A60-0ECA-4BCB-B1B3-8E5D8BE4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5DCE1"/>
                </a:solidFill>
              </a:defRPr>
            </a:pPr>
            <a:r>
              <a:rPr sz="1650" b="0">
                <a:solidFill>
                  <a:srgbClr val="C5DCE1"/>
                </a:solidFill>
              </a:rPr>
              <a:t>Frontend sampai backend: pencarian rumah, kelayakan bantuan, sertifikasi pengembang, administrasi kabupaten/kota, PSU, aduan, dan kemitraan.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D7E213-1CFF-442B-8D3F-C4E6776F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B00"/>
                </a:solidFill>
              </a:defRPr>
            </a:pPr>
            <a:r>
              <a:rPr sz="1200" b="1">
                <a:solidFill>
                  <a:srgbClr val="D6FB00"/>
                </a:solidFill>
              </a:rPr>
              <a:t>Versi lokal • 18 Agustus 2026</a:t>
            </a:r>
          </a:p>
        </p:txBody>
      </p:sp>
    </p:spTree>
    <p:extLst>
      <p:ext uri="{BB962C8B-B14F-4D97-AF65-F5344CB8AC3E}">
        <p14:creationId xmlns:p14="http://schemas.microsoft.com/office/powerpoint/2010/main" val="1487566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52B81D-E3A9-4911-9C61-16BE67CF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GAMBARAN UMUM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8C5DD-F287-45E9-9425-306A2C3E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Satu portal, enam jalur layanan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D6993-2B14-4501-85F3-2D9D0C9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Setiap jalur berangkat dari kebutuhan pengguna dan berakhir di meja pengelola yang sesuai.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B5A03-1A91-4C52-83E7-086F18BB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3D974-F930-4F90-966F-17FABC0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6B91A-4124-4F30-937D-8C35ADBE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0451-38DA-4936-AB4F-99D6D050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Cari rumah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DDD82-25CD-4D56-A72B-4AF99589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23183-1687-4D86-A6A1-9F20A482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91F89-8F3F-4409-B93D-B9C7AB1D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34250-DDBF-4F8D-AE47-E4201AB1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Cek kelayakan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E6784-BA86-40F8-BC88-57FFDDD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9172-86CB-4903-9DF3-D776237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36DE0-D2AF-41CC-9FB1-2F2975AF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CD8C1-3743-492E-9F2C-7E1800C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Sertifikasi pengembang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33B0E-65A1-431E-A25D-877730EA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F81D4-4E03-477F-93B3-A8AA5B7E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5D103-FE3E-40C6-ABDC-D647E88E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E4458C-32F0-499F-B0D8-6827E753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Rekam kabupaten/kota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5F623-BA7F-4874-854E-BBA114E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13069-4216-47C5-B535-AB665D86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96401-12C7-41C1-A438-64D2CFF0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051E5-82CD-4EF7-BAAD-C80B190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PSU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920A-0555-42BB-903F-18C95A70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DE7FB9-7BEC-4757-A748-EE312B40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190750"/>
            <a:ext cx="1685925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BEBAB-B4E0-4C77-93BB-6D2A2BCA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F36F0-4A7F-4DCC-BBB4-F1BCF732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90800"/>
            <a:ext cx="1419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Aduan &amp; kemitraan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854E2-705C-4CC1-9288-BE231EC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EA5B95-EC4E-4482-9561-CC043CD8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Layanan publik dapat dibuka tanpa akun sampai pada titik yang membutuhkan penyimpanan atau pengajuan.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35D81-448E-432A-95DD-48637F1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F4F8A8-AA84-4E6A-A4CB-ADE0F06D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Login menyimpan halaman tujuan sehingga pengguna kembali ke proses sebelumnya.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382B30-3B22-4248-95C1-90F4C727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5B04B9-7C68-4656-B558-9C253B60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Data pengajuan dipantau pada dashboard peran masing-masing.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1BC60F-5AE0-4875-B31D-E07F0EB4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71486-2B77-405C-BDF6-3D269899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49480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A1010-16AC-4BF3-AAB8-C63065DE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FRONTEND NGGOLEK OMAH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DD8B8-D7E3-4E64-B82A-CDB4622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Mulai dari memilih layanan perumahan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D500C-9F10-4574-8405-AB3A97CB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Halaman Nggolek Omah menjadi pintu masuk bagi warga untuk pencarian rumah dan pemeriksaan bantuan.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B4429-5536-4C02-8C08-CB59AA30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6e956b8684817"/>
          <a:srcRect xmlns:a="http://schemas.openxmlformats.org/drawingml/2006/main" l="16546" t="0" r="165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09750"/>
            <a:ext cx="6191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A5B88-880F-499F-80FB-86B8557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333875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A94F8-61BD-4AA6-A1EC-EA7D8D2B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Pilihan utama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9A97F-D1E1-4577-AE9B-E5651869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3D965-0F7D-4C0C-8C78-F7539EC9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479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Cari Rumah: melihat perumahan dan unit yang tersedia.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2A8D4-9A59-43E4-B69A-4F74FAEB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FF506-0255-4E91-AD14-87C7A2F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Cek RTLH: cek data rumah tidak layak huni.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C130E-F1EF-4971-B6EB-C81D3B56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D4202-1216-41DF-9E59-F9B6111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4805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Cek Kelayakan: masuk ke wizard rekomendasi program.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D2AE1-B9E5-4C30-B92E-DF93854B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3429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5B245-C98E-43F6-9F15-95DD3014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29200"/>
            <a:ext cx="3162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Rute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0925D-2AFA-48D0-9E2C-D1688E3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91125"/>
            <a:ext cx="3162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/golek_omah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5B44E-D849-4F5C-A0F1-D33CB6A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C951C4-86BE-4B71-B590-D7D93B2B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94217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2016C2-1F36-4A31-B753-347BF5F5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CARI RUMAH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9228C-1CC9-47F0-883C-87E13E7A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Data perumahan ditampilkan bertahap agar pencarian tetap cepat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945A8-B9D3-4BF4-8AAC-F9BA9785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Pengunjung memilih filter wilayah/tipe, lalu halaman memuat satu halaman data pada satu waktu.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52271-38FF-49A9-9912-2D79E78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D68B6-E0F2-4E57-AF54-EE147BA7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C6B6C-2DA3-4CF7-92B6-2C61E68F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824CE-2489-4875-9728-C632D742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Buka /cari_rumah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7285-49F3-4D5C-BC0E-02075E9D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D0EC5-5C1E-498D-90AC-2CBB8DC6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9550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73277-C2EB-44D0-82F5-32CCB67F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C7A94-5B2F-40D2-948C-38FA5F1C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49555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Pilih filter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28C57-302C-4C04-86D5-92154B3D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7995F-776F-4781-B630-E8603F2E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9550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1E2CA-F273-4B41-92E7-4ADCB67D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83248-2E8B-4B32-AD25-049FD903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9555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Muat halaman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1870EE-E6A3-4A5E-B9C7-E6C6080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77A2A6-E677-4253-B7B8-F21A7720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09550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7F568-D447-49CF-A7F6-03D310E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759BC-67CB-4E10-B0B6-91C3E13B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49555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Buka detail rumah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0DD80-171B-467E-9806-0C88782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3340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A1AA7-531D-4D1F-BB06-A6E504A5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3A"/>
                </a:solidFill>
              </a:defRPr>
            </a:pPr>
            <a:r>
              <a:rPr sz="1650" b="1">
                <a:solidFill>
                  <a:srgbClr val="16323A"/>
                </a:solidFill>
              </a:rPr>
              <a:t>Aturan bisnis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9F37A-CDD3-471E-99D9-4C132398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D9957-A283-4189-8249-852DE9B7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Pagination membatasi tampilan per halaman.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8310B3-1495-47C0-B85A-132C32E21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5A0A5E-942B-489B-9CD2-F7CA5E6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Tombol Sebelumnya/Berikutnya mengubah halaman, bukan menggandakan seluruh data.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1D3B7B-C68B-43B3-A85C-BD5A4E63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38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B1336B-45A8-4C42-9BDC-31C458BF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52825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Frontend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BB330E-B000-43AB-AAE9-2DD1CEFA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11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/cari_rumah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782C14-CFF3-48ED-9D4D-12EEC99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3815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10E0D9-2013-4C30-A8EE-2FF2E855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Backend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432D5-3426-4D05-9F09-FAB57A7A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33875"/>
            <a:ext cx="4114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Index::cari_wil() → lokasi_tersaring()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75D8D0-6CF6-4A69-BFA4-782D900D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CE1FF8-7AED-4972-ACC1-E256B374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65461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BE3A61-5A02-49E7-B42D-0B43162F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CEK KELAYAKAN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03195-991A-4EA6-9CFF-7CEB1F2F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Wizard warga memisahkan hasil awal dari data pelengkap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35D12-04C0-4920-8616-6A8243F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Warga dapat melihat arah rekomendasi setelah matriks inti, kemudian melengkapi data untuk hasil akhir dan pengajuan.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DB5E3-3563-44D7-8040-C7B39191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7b2b896e54f99"/>
          <a:srcRect xmlns:a="http://schemas.openxmlformats.org/drawingml/2006/main" l="6431" t="0" r="64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62125"/>
            <a:ext cx="5476875" cy="3333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3CF67-9414-4FCA-814A-7DFF78E9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3D714-02AB-40EA-85FB-548CD896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658E0-1BF4-4987-9492-E7AD264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29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Masukkan NIK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3E387-7F36-4BF7-9546-EB330B98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5734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8BB202-0A7D-4398-9734-0AC6AD38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5429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AB643-6AA8-4045-BFD6-55B94BF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5562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C5436-EC79-4D7F-B314-82ED41DC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5829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Isi matriks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1C0F2C-91FC-4E3F-9FE0-A24EA12C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734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A75A2-F718-4B53-9512-12C40ACE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29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D63E6-A0CE-45B2-A402-74F9B54B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62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121A6-EB92-4ACC-8321-F3B5C2C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829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Hasil awal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9E27F-0050-47BD-BEB6-85CF2EBC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5734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9CCFDB-44BD-4E5E-A8B0-798E280C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5429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55410-CAFE-446C-9B43-6446ADD8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562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6A5458-A279-4054-A1C0-41A0D894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829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Lengkapi data SIMPERUM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0D2C7-381F-4E7C-ACF1-A1E7C512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543C48-463D-4B2B-BA7D-D563764F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44393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5E5DC-914D-4EF1-979A-00A8C183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NIK ADALAH TITIK KEPUTUSAN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C08F0-7FAA-41A4-AEBF-150AAA59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NIK ditemukan dan tidak ditemukan memiliki kelanjutan yang jelas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97185-DD29-434C-A97E-6882B2BB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Tidak ada data profil warga yang ditulis sebelum pengguna mempunyai akun.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70B6F-2861-4C1A-9A43-24A9D0CE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65FAC-5C95-4D23-81A3-BEF858D9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7008EA-58D1-4974-8B6D-E50C4E0A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23A"/>
                </a:solidFill>
              </a:defRPr>
            </a:pPr>
            <a:r>
              <a:rPr sz="1875" b="1">
                <a:solidFill>
                  <a:srgbClr val="16323A"/>
                </a:solidFill>
              </a:rPr>
              <a:t>NIK ditemukan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51402-E958-4D19-8042-D92C463C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6D2F0-8399-415C-BCBC-306146BB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8130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NIK sementara disimpan di sesi.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A1A4D-1932-4926-B3E9-305C01A1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764EF-C168-4C83-AADD-CBE38BB4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Modal Masuk dibuka.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7E5C6-B365-4BCB-9AE4-B0F55983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10EA61-065B-4BA6-ACD3-C8177E5D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Setelah login: profil dan draft dibuat dari data sumber.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68015-DC1B-4CE1-984A-1E011DB5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5048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C52AD-1675-4F81-86BB-405EBCF5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23A"/>
                </a:solidFill>
              </a:defRPr>
            </a:pPr>
            <a:r>
              <a:rPr sz="1875" b="1">
                <a:solidFill>
                  <a:srgbClr val="16323A"/>
                </a:solidFill>
              </a:rPr>
              <a:t>NIK tidak ditemukan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482A5-A9F3-4D5B-99E0-DA6F5E01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F24FD-DB46-4DF9-B7EA-85F2CF15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Modal Buat Akun Warga dibuka.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8642-112B-43DA-AC94-E59CA667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F5414-5E53-4508-838D-C9F010AD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Setelah onboarding: draft manual dibuat otomatis.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1ECCE-67D7-41C3-A296-96C8D800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81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216117-4F42-4F7B-872D-CE270FE7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010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Warga langsung menuju Data Warga.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7279E-2C0D-428E-AE2D-D215AE4A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E177A-8FEC-4D47-A167-4D757D8D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895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BFE5EC-2E93-435A-A1FF-7D12572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MATRIKS INTI MENENTUKAN REKOMENDASI AWAL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842E1-CADC-489F-886A-B10B3FDD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Hanya data yang dipakai aturan rekomendasi yang wajib diisi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BC6B9-E85E-4DF0-BDB2-0BB34F05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Isian identitas administratif tetap dapat dilengkapi setelahnya.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80DC-2194-4D0E-9769-D65FA786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4908d5fe74530"/>
          <a:srcRect xmlns:a="http://schemas.openxmlformats.org/drawingml/2006/main" l="5068" t="0" r="5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62125"/>
            <a:ext cx="6762750" cy="3952875"/>
          </a:xfrm>
          <a:prstGeom xmlns:a="http://schemas.openxmlformats.org/drawingml/2006/main" prst="roundRect">
            <a:avLst>
              <a:gd name="adj" fmla="val 385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41A5D-D2A5-468F-82E0-2FB91EE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62125"/>
            <a:ext cx="3714750" cy="39528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730C-030E-4666-B3FE-A526296A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3A"/>
                </a:solidFill>
              </a:defRPr>
            </a:pPr>
            <a:r>
              <a:rPr sz="1725" b="1">
                <a:solidFill>
                  <a:srgbClr val="16323A"/>
                </a:solidFill>
              </a:rPr>
              <a:t>Wajib untuk hasil awal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25D2E-5C14-4FBC-997F-495F0F9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8B41C-EA16-41B3-974B-69DFCEE2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Kelompok penghasilan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F6B6F-F4B4-4A4C-8FF9-729FB7D2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E1DF7-13FA-4489-AABE-6951A6C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Kemampuan swadaya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0BF3C-77E3-4953-9755-3A3F6F05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1DB6D-CAF7-43FC-9B1D-D7F92CEF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Status rumah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A6B5B-D3D8-453A-9CE1-ED192C33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EF084-74B6-4076-A401-A98AF536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719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Untuk bukan milik sendiri: rumah lain dan calon lahan.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EE665-8AD3-45C3-BDA2-2A1A9570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958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Opsional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804EB-AF41-4BE7-B3FE-33A368C6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23A"/>
                </a:solidFill>
              </a:defRPr>
            </a:pPr>
            <a:r>
              <a:rPr sz="1275" b="0">
                <a:solidFill>
                  <a:srgbClr val="16323A"/>
                </a:solidFill>
              </a:rPr>
              <a:t>KK, nama, HP, tanggal lahir, alamat, serta data demografis.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8F2C5-1DF7-4E3D-9C51-93A5601B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48757-216D-458B-9F3C-B725D5B1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5782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65F72-6284-43C2-82D4-F5C4467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HASIL AWAL MEMBERI ARAH, BUKAN KEPUTUSAN BANTUAN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AF63C-3159-41BF-ACE2-AA73D28A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Setelah Data Warga dan Rumah &amp; Keluarga tersimpan, sistem menilai kandidat program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3764-C69B-49C3-977D-281AA62E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Status yang tampil: memenuhi simulasi, berpotensi, belum memenuhi, atau data masih diperlukan.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86738-5563-4BE6-A485-2D0AD1CF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32A85-CE05-4416-BE1B-7C86B05F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D124F-3816-4FAF-AC7F-E28C82DD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20EEA-C704-4A8E-AFD3-F1791D5F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Simpan Rumah &amp; Keluarga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13A5B-504F-4FE3-BED3-0AE07B63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418E8D-972A-41BC-B654-4AB0B0BD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1907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06B71-F8D9-4E7E-9A1C-8E2D887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5A3C3-FE05-4A41-850A-3AD316CF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5908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Aturan menilai kandidat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7C1DE6-B84D-41A3-8903-68C1C9C4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88AFD-23A3-40FE-93A6-CCAC2AF7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907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81489-CCFD-4D7C-AAC2-2A659053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D3987-8B22-4243-9861-D6F3455E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Hasil rekomendasi awal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046E5-6B31-4AAA-B59D-D3776FB4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CB780-2DC0-478B-8424-3AC36DBB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1907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D1B13-45ED-401C-BE08-100FDD0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023FB-3CB7-4C98-AA4B-7FA3984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908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Lanjut pelengkapan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3E56D-E87D-4E76-B25D-33D16A1C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2D1894-EC23-4C0A-89B0-44A60BC6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Aturan mempertimbangkan desil, penghasilan, swadaya, status rumah, dan cabang kebutuhan.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AF628C-6B8A-4479-A5D8-6CC05A8E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BDAD2-3D57-4EAE-8F9A-07BB892C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Kartu hasil awal tidak dapat langsung diajukan; warga harus menyelesaikan pelengkapan data dan review.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681DD7-47C3-4755-A9A0-D557743D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7F558-6825-4420-A0C8-AA03BACF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92941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FF8CC3-16C1-4BFD-A569-7B6B5745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PELENGKAPAN DATA MENGIKUTI CABANG KEBUTUHAN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F35F8-D1EF-4DE8-A525-30CE443B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Form menampilkan pertanyaan yang relevan dengan kondisi warga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C00E8-A5AE-4F46-AD78-D82FC8DA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Cabang ditentukan dari status rumah dan ketersediaan calon lahan.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80D7C-EC28-45C3-AD99-3BBDC7F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30115-252B-441F-B642-33F384B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3906D-5C90-4081-9B5C-ED321456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Rumah eksisting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0BDA3-F06B-43D3-9B47-4DAE343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66BC8-83ED-42B3-B6DD-853A2EF7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Kondisi bangunan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391A2-6C9D-4BE8-B1B4-EBE75F44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C797F-4BE1-443F-A7E8-F5BEC39D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Sanitasi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95462-D5CC-4F3B-BB9A-74B39A27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5A92F-8589-43BE-B29E-02838C97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Lokasi dan bukti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80E8C-DE77-48E4-87F8-A317344E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FB747-D7B6-4616-9346-B70A8A3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Calon lahan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AA3AF-F10D-4690-A5CF-028D4C9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F1245-5FAE-4B0E-A5D7-D89362C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432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Legalitas tanah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4AA9E-3302-4EE2-96A7-0656E6ED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C2A6C-BD0B-4B22-8832-7553FCA1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43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Asal tanah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38070-BF09-47F1-81B6-74E3A6E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0301E-F358-489C-A28F-69B34054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5433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Ukuran dan lokasi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726CF-41B9-4415-AF76-762AE82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160467-64D7-4B2A-AC69-2F67430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Pembiayaan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51C47B-3924-4227-9109-B8E1780C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B3D0D-426E-4B47-BD64-BAB5F7EB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Kepemilikan rumah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35F373-CD1F-409D-9204-AB189F60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0B086-3CF6-4B4E-AC62-E6DE018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4325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Data pendukung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E04E0-229F-4BA8-8165-443BBFD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578723-CF76-4068-B7BC-5A398C64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Lokasi dan bukti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90F550-F9A6-4328-9B1A-BC32C28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B56E7D-3137-41E0-9FE6-DE824091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562678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623A3-207F-4DEC-8636-E1135DFD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REVIEW MENGUBAH REKOMENDASI MENJADI PENGAJUAN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E6A4F-0457-4383-B66D-CA59B572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Hanya program dengan status memenuhi/berpotensi yang dapat diajukan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1CB85-5E2E-4199-8C85-9AD733B2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Pengajuan dikunci sebagai tiket dan masuk ke antrean kabupaten/kota.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D5254B-2016-4006-A71E-F88CA628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0B263-ED64-484F-93FE-AF745066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A3E28-7DD9-4A28-9A57-7BAA358D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513CA-F251-46C2-86E0-42F395C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Hasil akhir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08753-C83B-4D67-910F-529DC18C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407ED-9297-4107-A239-3D063570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BA78D-81E1-48A6-8CB3-5A1DA3B9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F2112-08F4-466B-8144-BFD4B15D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Pilih satu program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DF774-35E1-4660-9036-ABA64AE3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9A8F-006C-48CE-984F-E94B33A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DB850-DAB7-43C9-895C-28DD4568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D8314-1B1B-49B7-AAA3-38CF9A28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908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Ajukan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A412A-22D9-4779-9F2F-C84F1CB5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B3A51-C070-4805-A682-0EFB6FED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BE683-414D-469C-9297-E51C8759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422201-B089-4970-A173-139EA8F9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Antrean 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ECBD4A-41C0-481C-BCD5-3A2D7993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95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F4DEAA-969A-4907-BF84-BC7A8132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34550-338B-4C93-99BF-F63408DD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241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DFE89-53F8-4F3A-8523-393AF3E6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9080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Ditinjau admin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2D942-BB49-4969-AD40-A5335576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4C12D7-D100-49D4-9F5F-4BE11C8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1C982-CDD4-486F-9410-C5B0837E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Housing_assessment_model::submit_owned_assessment()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A2056-8AEB-47C5-8C4F-D4FB6D24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7362FF-AC86-4D92-AEC8-32316307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Status warga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0AACE-5B1F-4E42-8CE8-8709653D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3862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/akun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9C4FE5-776F-4033-B3E9-7B78A57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0270A-DCE1-4A13-B147-604C4E91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13785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0794B-8FD7-4F5B-AF8C-02FAE674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BACKEND NGGOLEK OMAH MENJAGA DATA TETAP RINGKAS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9D759-A31E-4631-9001-D903E60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Pencarian, filter, dan detail rumah memakai batas halaman serta pemisahan data publik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69B7-1FB6-479B-A455-390AF1AD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Tidak ada akses perubahan data dari halaman publik.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6A436-6B71-46B5-B033-5EB305A5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394A0-5534-4887-8013-EC2B42F2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9530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73AE-78C3-43F7-8EC5-96BB305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3A"/>
                </a:solidFill>
              </a:defRPr>
            </a:pPr>
            <a:r>
              <a:rPr sz="1725" b="1">
                <a:solidFill>
                  <a:srgbClr val="16323A"/>
                </a:solidFill>
              </a:rPr>
              <a:t>Controller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AA985-1EFF-4C85-9570-0BC72676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A7BED-EF4D-4A7F-A661-89516E1D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Index::golek_omah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D815F-E50D-45BC-B7FA-B9F13CE6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CAD3C-FC99-4679-9131-3556A698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Index::cari_rumah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8BE01-C063-43CC-A231-C20AD0F5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978D1-E77D-4C6D-8453-E19034D9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Index::cari_wil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B79B2-8A9E-44EF-AA60-D6C8C0AA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9530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C8514-C6C5-4987-937D-C5806EB8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3A"/>
                </a:solidFill>
              </a:defRPr>
            </a:pPr>
            <a:r>
              <a:rPr sz="1725" b="1">
                <a:solidFill>
                  <a:srgbClr val="16323A"/>
                </a:solidFill>
              </a:rPr>
              <a:t>Data &amp; keluaran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52813-683B-40E0-9CFA-44987571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325D4-C070-4C45-B31A-D2077E4D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Perumahan dan lokasi tersaring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6E658-2E82-41BE-98B8-22B512F1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224D1-05E7-4FD2-A6D0-2A789B91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Marker jumlah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280CC8-BAA6-4AF9-BD00-1F257C7B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E4B358-10FC-498A-9858-2C65774C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814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Halaman detail publik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E618C8-6524-46CE-BDE7-6EB83425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2B793-B5EF-4579-9A9F-8A5566E7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69471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5FA4B-3B84-4868-8C1B-959F6E07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FRONTEND SERTIFIKASI PENGEMBANG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2D017F-1727-42A0-9502-CE8AE47C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Pengembang melihat direktori, persyaratan, dan status sertifikasinya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3117C3-2482-4C16-A7F6-8CB3F7D7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Halaman publik menjadi pintu masuk; tindakan pengajuan memerlukan akun pengembang.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32200-46A2-4BC7-B68F-15D525F8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64d4a0114829"/>
          <a:srcRect xmlns:a="http://schemas.openxmlformats.org/drawingml/2006/main" l="8553" t="0" r="85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762125"/>
            <a:ext cx="4000500" cy="3619500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AA316-9203-45FD-8723-1DB7DA6C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95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259088-FBF9-4915-9247-3A0A954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Publik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B0AD8-FDBB-4060-A4CB-6BD62CA6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68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/sertifikasi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23A67-1DB6-4CD7-94DF-E3B62F10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495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51D3F-5591-41E8-B627-9B1CE0A5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Akun pengembang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72E9C-4C26-4293-851C-E9E45973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686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/Pengembang/sertifikasi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BF8AA-5575-4828-978A-4D71B681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9034C-23BA-4861-8598-C0809322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Lihat informasi dan direktori pengembang bersertifikat.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3C822-5579-4D60-9B49-1125CFFD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0AD47-8353-4447-958E-35BDB507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71925"/>
            <a:ext cx="491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Masuk/daftar untuk mengisi pengajuan dan unggah dokumen.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ADCE3D-B603-41FA-B480-89718D0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E02CF-189B-4421-866F-D98FF079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421366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D7AAC-7653-4D79-B3CC-7A39A422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PENGEMBANG MENGAJUKAN SERTIFIKASI DALAM SATU ALUR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43271-1EEF-4105-8002-A8D752D9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Draft dibuat setelah akun siap, lalu dokumen dan data perusahaan dilengkapi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E6B9C-0733-47C1-8040-94B82B45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Pengajuan tidak langsung tampil di direktori publik.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C00D-2786-461A-B005-37039D0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993BE-41E6-48DE-AB0F-71D95C8F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00B05-DB9F-47E9-9CFD-A0C39F48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A9EEE-A228-4945-9C09-2A85DE39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Daftar/Masuk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FDCF6-73CA-46C0-98F5-FC0129E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6B913-D622-4D47-9D7A-1A8873BC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149751-47D8-4D54-962F-A040AB7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DFAB52-8E7A-47B5-96C5-AF91967C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Syarat &amp; profil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7B9E6-DD6D-4234-9C5F-6E861BCB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8CD9E8-4849-45F8-92C8-0927F003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CF92DF-1F93-4080-B089-E28DBFA1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1BA9FC-4EF8-4D59-BCD2-3DE470BE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Unggah dokumen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5926A3-AFC1-4F40-A1A4-77F2479B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CCBC4-8B06-45C4-B856-27C7663B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93904-F1E3-4F70-B352-7F9EDE58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16F99-070D-43A1-B410-98F8F2A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Kirim pengajuan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D2BED-14DA-42B0-ACAE-C2938E51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3674C7-A1E3-47A2-A085-E38ACAE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05FC89-6B52-41CC-BCEF-4B562E19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5C03C1-3997-495C-BC84-E14AC53B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Status verifikasi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C4075-BDC5-463A-9C9D-42041D55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A78D22-138D-40D4-A6DC-BD26BDA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Data perusahaan dapat memuat asosiasi dan informasi kontak.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4BE5E-94BA-40C4-9FFE-876BEBCA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390F17-8345-4800-BD26-60D9E26E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67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Status bersertifikat hanya lahir setelah verifikasi admin, bukan dari isian pemohon.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F5A10-E322-431D-B728-CA10EE7A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EA6BB-433E-4340-9358-DBAA61AC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02902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F3DAC-576F-4813-B724-1FCEF180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BACKEND SRP2 MEMISAHKAN PENGAJUAN DAN DIREKTORI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6597B-8565-42A1-9530-4B9CFC78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Admin memeriksa pengajuan pada antrean, lalu mengelola entri yang sudah bersertifikat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64512-392E-4036-860D-8435282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Direktori publik memakai data tersertifikasi, bukan seluruh pendaftar.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6F87F-504C-45BB-AD93-3CEE5BF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90E6C-2E30-47D2-AEEA-453DCCC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1C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64D30-009A-4D69-B81C-C7D0282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43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Pengajuan SRP2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1F38A-ECC3-4EFB-83C1-147997BA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19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25DB2-3D97-4425-BF11-C7FB167A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194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Admin_Srp2/pending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81C89-2AE0-4852-8C11-57C8542D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219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9EEE4-0958-4B2F-910F-3507FE77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Detail &amp; dokumen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185CC-37D0-47EE-937C-C09576D6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195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A7E32-B744-4D5F-B39A-BD4F2E86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195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Terima / minta perbaikan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6E9FA-5026-4FBF-B082-B5F134E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762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DF4E7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E2E6B-8284-403F-8B24-F189FA36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Direktori SRP2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397459-7D5B-4C1C-A895-E23099F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194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A5E3C-2BC3-44AE-B112-723DE633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8194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Admin_Srp2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5F370-ACEF-4C95-966C-3ACFD24D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194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AF06D-2030-4B6D-B992-3910865A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1945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CRUD pengembang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C659B-7B0B-4781-AB8A-97E6D1F6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195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E3F97-5ABD-4C7D-85CC-86989C50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19500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Status sertifikasi: Bersertifikat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28B29-7286-4238-821B-264D3270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59AB6B-C7D2-476A-A006-B87951DD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9927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7AA611-883D-46DE-997C-163F7AAE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ADMIN KABUPATEN/KOTA MENANGANI PENGAJUAN WARGA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5DE15-342C-4BDD-9D0C-EB65C9C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Antrean hanya terlihat untuk wilayah administrator yang berwenang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E0126-608B-4548-B40C-A80992AB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Keputusan dan catatan kembali terlihat oleh pemohon di akun mereka.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FF4CF-C4FA-43DE-995B-A0F43AE0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99A72-A11B-43D3-B71B-02FBD385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E74ED-0699-486A-A4DE-B2F2B551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544FC-96ED-4462-9B46-53A432EC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Antrean pending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C32ED-B0AD-40A4-96AF-99D73D9D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E3B27-AB46-4B75-B775-D8CAF2D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A5CF1-270D-4610-A7E5-03003F46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42C6E-FF7F-41EF-97CA-D9D0D94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Buka detail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B4184-43A4-4E27-ADB9-B1B184F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591ED-3662-48C9-AECC-0F232B0F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E3CF8-F970-491E-ADD3-E0CA0A41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A3B1F-62D4-447F-ADBC-F73A3E9D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Periksa data &amp; bukti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70657-14C6-4272-86E2-2DB82CAC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A58E6B-AB4B-4205-A981-911D2002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79161B-73D4-4FB7-9B1F-59EC7259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C5A090-1FAE-4D8B-8904-5F88943A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Setujui / revisi / tolak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55E7AF-D9D7-46A6-B1F1-536FEB12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813411-CF7C-40AB-AE1C-6B8F7A09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7D42B2-155F-4A23-9D3D-E349B82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25D343-FC71-4298-A76E-5A6C6AFD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Warga melihat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CDAC31-85AE-44B8-BDCE-099715D0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9B5B7F-955A-40FD-B916-68DF3BF5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Dashboard admin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4DDDAB-A878-496C-A695-6BFBAAD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/Admin_Kabkota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9229BF-8BD1-4F8C-B9D4-A73BDFCB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EB827-54E6-4F74-984A-BF3CBE9A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Dashboard warga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6B94A-265C-4ED1-A8CE-4AE04F95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/akun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95D81-5CE6-465D-BCF1-898E4F9A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C8A60-1387-4BFA-9568-C8DE8BB7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882888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557E2-DCCD-4E6D-8E39-A8307172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REKAM DATA PERUMAHAN ADALAH ALUR BACKEND KABUPATEN/KOTA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94689-4160-4F37-8E35-29B6642F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Pelaporan triwulanan dimulai dari draft, dilanjutkan program dan realisasi, lalu dikirim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C6394-B1B1-4266-8FEE-601FAFF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Riwayat dan rekap tetap dapat dibuka setelah pengiriman.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25123-36F9-46A3-9167-D3132D19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06777-6F16-4AC5-B8B8-4119A526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91933-FF4A-4C7A-BB50-D4407131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00684-AE0F-44A9-9EA6-F6A52B4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Pilih tahun &amp; triwulan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085FA-F19E-46AA-A741-BFEC3537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F3ED0-6371-48F6-B32A-0778FA24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C67FC-7C56-4BCB-801F-7BA4DE46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C4D9A-0056-4DC5-A5DB-D5B9350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Buat draft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9D30C-A873-4FAC-AF99-596D38A8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CC13E-1C20-46DE-BC07-51BFB9C5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2DBFA-C43F-473C-879A-8C81C5ED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63605-A47F-439A-93F5-76DFD2B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Isi program &amp; realisasi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6217C-A595-4756-A7EB-2BA48E2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A7EBB-6D1C-484A-8B53-B2B32BD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894B44-67FE-4B53-A6A2-F066EA77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9CAD1-9BEE-43FA-BE36-19A4C55F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A74AF-9B7A-4F0B-B594-564626A7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8080B2-C548-4CD7-93B7-6FF785E7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A4B163-32B9-4008-B6C5-C0FAE8A6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578F4-AAC2-4C8C-8970-897B7473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Kirim laporan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C7916C-BC74-49C2-A5FC-22B20CA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2986B-A666-49F2-831F-C10993E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Input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B89C90-55B0-4210-99C9-ED22174A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/Rekam_Perumahan/input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08F18F-F22C-43C3-9275-A542A5F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951F5-51CA-42BF-A50F-09B924B2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Rekap &amp; riwayat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7F2AB5-C64C-4F3C-8038-6CF14D5F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/Rekam_Perumahan/rekap • /riwayat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3BBCC-7169-40CE-99D5-2F145417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598EC7-87F4-45EF-8A22-D7CF9FA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395933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10D63-21D1-403F-A750-7A24D4F6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PSU MENGHUBUNGKAN INFORMASI PUBLIK DAN PENGELOLAAN ADMIN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3376C-42C4-4CDE-AEF1-3F3EE0FF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Publik melihat daftar PSU; admin mengelola nama perumahan, status serah terima, pengembang, asosiasi, dan wilayah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A5A27-45FE-4595-9E1E-9E99080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Data contoh dipisahkan dari mekanisme CRUD admin.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571BC-5B2A-4E9A-87AB-357F7C33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A3B667-3884-48A5-B388-ECF418D1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59FD1-5583-4ED8-9A9A-D4E39E3F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2B171-1E25-4C2C-AF55-368176CB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Publik buka PSU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A2678-BD69-437E-B70F-4A18F814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263" y="2686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E3E45-0F15-4711-918A-DF9EA2CB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81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2776A-FBE3-4473-BD3D-CE55068D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514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EFE55-FA57-440B-9E44-814810A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2781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Lihat status serah terima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8B099-C476-4D75-8554-0A927EFE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686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E2A51-B11E-44F5-8F23-B398041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81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C2C77-4353-48BB-A1A4-E6924B9C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14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0ED11-F110-47CC-A437-0DF9CFD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781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Admin tambah/ubah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9F0323-5B1C-41DA-880C-012BBF14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6860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90EA8-4D00-4A6C-A91F-ED822590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81250"/>
            <a:ext cx="2614613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CAB094-E8D1-4EA0-B26B-F3F9C3C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146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481E1-E8A7-4D3D-A84B-03C9EA49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781300"/>
            <a:ext cx="234791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Data tampil di publik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2CEE5-3962-4409-A069-F54FB07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FBA7D-7BA5-4F3B-B997-A0D38AB2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Publik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2CA53-3BF6-4B6E-B977-C69A666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/Psu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BFEEF-F323-48D1-83FD-54FD3B53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417315-E1FD-4B45-9D71-113799FB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Admin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BC277-0298-432A-B07F-8268367A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2912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/Admin_Psu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02F6F-C3DB-42B0-83B5-721ECB76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6010AA-A9CF-41E7-830C-33AA6E38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31492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8DD0D0-54F1-4F75-A00E-D4DEAE21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ADUAN MEMERLUKAN LOGIN DAN DITANGANI PER BIDANG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A46E4-0A40-44F8-A40A-E2425938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Pengguna mengirim aduan dari frontend; superadmin melakukan triase; admin bidang memperbarui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145CE-5D66-425B-8FC3-D9A5CB09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Lampiran diperlakukan sebagai berkas privat.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65395-7884-4C85-AB34-2BCD052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A5ECC-98C9-4FC8-ABE0-5CD6EE1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AD195-92D5-4890-BF79-2AC3828D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1B062-7C38-42E6-82B5-2AB0C029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Login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4E2E9-2DD2-4FB7-BC58-5D7924EC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6D2BA-6683-4940-89E0-1327B531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342B7-DC8E-436A-8159-C102E44B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2D757-1F6B-4219-84A9-99D62C78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Kirim aduan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87AAD1-DAC3-494B-9F0D-2385870F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D6E995-1831-4657-ADCA-F0174F80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6CEA6-7773-43B7-9741-3AAE65B5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0D7F1-AC75-44BF-8D10-7BC51BD0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Triase 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892D53-F422-4456-8276-107EECC1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085ED-031E-449F-A29C-51636F4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DB2E2-5953-4607-90AB-817BB843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D94DA-6142-4C55-B5CB-D3B86D17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Tindak lanjut bidang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36B46-5759-4047-ABE2-FCE26C38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DE681D-07F0-4C56-B0DE-C0FD9D8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62C0E-3AB3-445F-A751-853B40F9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662E2B-F57C-45B9-AF24-FD2AE77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Status pada papan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2A0F8-6D44-42E5-B774-A1178228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B49E76-9B0A-49BC-88E0-1605D906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165837-688F-41F9-8AD4-74F9CFF3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/umum/aduan • /umum/papan_aduan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B07AE-21D4-4BEF-8ADF-B35992CD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99F83-427F-4750-8418-61E84D69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1BC27B-3F6A-4D13-B8D6-7204E5F5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/Admin_Aduan • /Admin_Bidang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8FC8D-87C2-4D3D-8ED8-9C437D6D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97BC37-3613-4147-88FA-EDD549AC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647606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ABA814-D9F6-489C-949B-2B936E56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KKN DAN MAGANG MEMAKAI PORTAL KEMITRAAN YANG SAMA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E86BC-B51F-438F-94E8-AFBFE3BC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Mahasiswa memilih jenis, melihat slot, mendaftar, lalu memantau pengajuan dari akunnya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C97B2-A985-4879-9CFF-0FD9444A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Admin mengelola slot dan status pendaftaran.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3FEFD-723A-4F75-8142-40D6B1C9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4BF75-C239-45CB-AC80-BB94F908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DFF4F6"/>
          </a:solidFill>
          <a:ln xmlns:a="http://schemas.openxmlformats.org/drawingml/2006/main" w="9525">
            <a:solidFill>
              <a:srgbClr val="00A3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15D68-5872-4FF1-BDEB-B1B15571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252B"/>
                </a:solidFill>
              </a:defRPr>
            </a:pPr>
            <a:r>
              <a:rPr sz="1050" b="1">
                <a:solidFill>
                  <a:srgbClr val="08252B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D09C3-E0E0-4C7B-840E-18CE1C9F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Pilih KKN/Magang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4CAC0-EB91-4A64-981C-100A5D53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50BF4-3CA0-4743-92C9-6D475D67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FFFB7-0D80-4D9B-95F1-B821AFE5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62215-2264-4C59-8A97-F831C0DB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Login mahasiswa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9714D1-A02A-42F0-BD9F-01CD1466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D6A7B-A093-4B8A-B35C-5DA4F8A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059E8-808C-4C1A-9120-8DC224F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7820C-EE30-49BB-B3B6-7224B0D3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Isi pendaftaran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A946C-1407-4F15-BE23-14CC9747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83729-E9F9-4C3E-8ED1-DECBE1E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EB79A-74AB-4003-8B5A-ACFDCA07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1E71F-79FB-41E7-9693-B6F265A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Pantau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AEB15-31B9-4513-95A7-63E37BB9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003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3B5"/>
                </a:solidFill>
              </a:defRPr>
            </a:pPr>
            <a:r>
              <a:rPr sz="1950" b="1">
                <a:solidFill>
                  <a:srgbClr val="00A3B5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C7B06-F29C-4CA5-BD1C-84FA8446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FB74B-69D6-4222-8012-A1419FAD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2885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7F89"/>
                </a:solidFill>
              </a:defRPr>
            </a:pPr>
            <a:r>
              <a:rPr sz="1050" b="1">
                <a:solidFill>
                  <a:srgbClr val="5D7F89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6C1E9-4FB4-4838-838E-BCB1FA93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95550"/>
            <a:ext cx="179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3A"/>
                </a:solidFill>
              </a:defRPr>
            </a:pPr>
            <a:r>
              <a:rPr sz="1200" b="1">
                <a:solidFill>
                  <a:srgbClr val="16323A"/>
                </a:solidFill>
              </a:rPr>
              <a:t>Admin kelola slot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329C26-7B28-42F5-9A5E-6EA3B3B1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3431E-A3C9-4CAE-81BF-CD7962AD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Frontend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3B883-4A2B-4A81-A35A-F87405F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/KemitraanPortal/kkn • /magang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DB6CCD-4D66-4FC9-96DE-B51F2359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48125"/>
            <a:ext cx="5334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3F8F8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D4CBB-AD15-4B38-A1F2-63FD5DD5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24325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323A"/>
                </a:solidFill>
              </a:defRPr>
            </a:pPr>
            <a:r>
              <a:rPr sz="1125" b="1">
                <a:solidFill>
                  <a:srgbClr val="16323A"/>
                </a:solidFill>
              </a:rPr>
              <a:t>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4E60D-9769-4A04-A7B8-13500C58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0673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/Admin_Kemitraan • /Admin_Kemitraan_Bidang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E7171-60AA-4603-9540-B4E1F7B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39308-C031-4094-8C42-6C3D6C9D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929299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655C0-A942-4EDE-B935-92BDD64F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DASHBOARD MENJADI PUSAT PEMANTAUAN STATUS MASING-MASING PERAN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1A7F7F-A414-4485-8B64-48BCDA02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Status tidak lagi diperiksa secara anonim dengan tiket publik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E0D4B-20A3-49DE-B9BF-0E45552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Warga, pengembang, mahasiswa, dan admin melihat informasi dalam ruang perannya.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6DCF6E-C0E4-488B-9C79-3B1E4939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33DCD-A6AB-409C-9E0E-6EF3237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143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AF4F8-DBAA-4F76-B3B8-9367CF63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Pengguna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DE97E-A0F5-4D32-9E99-3859909B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5CC30-1C38-4DAD-A28C-DC65FD01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Warga: pengajuan perumahan &amp; aduan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6857A7-503C-4E14-8FE3-F7EF39AF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D94BE-A939-4FEC-91F9-9A0E153D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Pengembang: SRP2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7C7A0-0322-4AAE-8FF6-B10590D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9ECC6-F178-45C2-BE5A-03DA6EE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Mahasiswa: KKN/Magang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91A91-87D2-48A1-9AA3-E1AC11E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5143500" cy="3238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27F7F7-991A-487D-93CA-B77195A3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2479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3A"/>
                </a:solidFill>
              </a:defRPr>
            </a:pPr>
            <a:r>
              <a:rPr sz="1800" b="1">
                <a:solidFill>
                  <a:srgbClr val="16323A"/>
                </a:solidFill>
              </a:rPr>
              <a:t>Administrator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6D91F-7067-4433-91DA-BBD1AA1B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27432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2C466-74A3-4113-B9E8-72A24537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432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Kabupaten/kota: antrean warga &amp; rekam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58125-181C-49E3-AF3D-004F0F6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143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43A2D-2574-4C6C-825F-2F6B5994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4325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Bidang: aduan sesuai bidang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E7EA2-85A3-4C94-901F-ED50963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0B265-D5BF-420C-9E8E-8290EB0F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543300"/>
            <a:ext cx="405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Superadmin: triase, SRP2, PSU, struktur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62112-819B-4E32-921F-BDB21CF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C460D-7F14-4B41-8058-BBBA635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325551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00B1E-C926-43FC-8F18-85AE1388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B5"/>
                </a:solidFill>
              </a:defRPr>
            </a:pPr>
            <a:r>
              <a:rPr sz="975" b="1">
                <a:solidFill>
                  <a:srgbClr val="00A3B5"/>
                </a:solidFill>
              </a:rPr>
              <a:t>PENGAMAN BISNIS YANG BEKERJA DI SEMUA JALUR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082F9-DA24-4738-9F5D-D6DBF62B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323A"/>
                </a:solidFill>
              </a:defRPr>
            </a:pPr>
            <a:r>
              <a:rPr sz="2700" b="1">
                <a:solidFill>
                  <a:srgbClr val="16323A"/>
                </a:solidFill>
              </a:rPr>
              <a:t>Akses, kepemilikan data, dan status transaksi diperiksa di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9FAD5-3966-4C6E-90B4-883D467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7F89"/>
                </a:solidFill>
              </a:defRPr>
            </a:pPr>
            <a:r>
              <a:rPr sz="1275" b="0">
                <a:solidFill>
                  <a:srgbClr val="5D7F89"/>
                </a:solidFill>
              </a:rPr>
              <a:t>Tampilan tidak menjadi satu-satunya pengaman.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60A63-701F-44A1-AB41-65AE3417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9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2D619-7780-4214-BC22-2318F4B3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477D4-8F4C-4D22-A815-D9ED15D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Gerbang login menyimpan halaman asal dan membedakan pengguna belum login dengan pengguna salah peran.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03A83-B177-438E-8550-670E2BB6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90402-AD58-4D8C-BB1B-4175FFE6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NIK serta data sensitif dienkripsi; akses berkas dan draft selalu disaring berdasarkan pemilik.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62D98-6595-4E88-8161-BE9AB6D3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EDF8E-88AB-4DD2-B083-F47AE28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Pengajuan memiliki status, versi draft, dan jejak keputusan sehingga perubahan tidak menghapus histori.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CB4D5-0A31-4B8C-86C7-166D752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A3B5"/>
                </a:solidFill>
              </a:defRPr>
            </a:pPr>
            <a:r>
              <a:rPr sz="1500" b="1">
                <a:solidFill>
                  <a:srgbClr val="00A3B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3F3BC-1C9F-46FA-9B14-6625D956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977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3A"/>
                </a:solidFill>
              </a:defRPr>
            </a:pPr>
            <a:r>
              <a:rPr sz="1350" b="0">
                <a:solidFill>
                  <a:srgbClr val="16323A"/>
                </a:solidFill>
              </a:rPr>
              <a:t>Endpoint status tiket publik tidak lagi mengungkapkan data pengajuan.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6A730-E05E-444C-812E-4ED08876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7F89"/>
                </a:solidFill>
              </a:defRPr>
            </a:pPr>
            <a:r>
              <a:rPr sz="825" b="0">
                <a:solidFill>
                  <a:srgbClr val="5D7F89"/>
                </a:solidFill>
              </a:rPr>
              <a:t>Klinik Perumahan &amp; Kawasan Permukiman • Peta alur aplikasi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1BE96-A45A-42EC-BD85-E0FDF452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2462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7F89"/>
                </a:solidFill>
              </a:defRPr>
            </a:pPr>
            <a:r>
              <a:rPr sz="825" b="1">
                <a:solidFill>
                  <a:srgbClr val="5D7F89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1654861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66982-4BD5-400D-A019-254B676B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FB00"/>
                </a:solidFill>
              </a:defRPr>
            </a:pPr>
            <a:r>
              <a:rPr sz="1200" b="1">
                <a:solidFill>
                  <a:srgbClr val="D6FB00"/>
                </a:solidFill>
              </a:rPr>
              <a:t>PENUTUP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C0391-93FF-40CC-8719-F12868B4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704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Arah presentasi:</a:t>
            </a:r>
          </a:p>
          <a:p xmlns:a="http://schemas.openxmlformats.org/drawingml/2006/main">
            <a:pPr algn="l">
              <a:defRPr sz="3225" b="1">
                <a:solidFill>
                  <a:srgbClr val="FFFFFF"/>
                </a:solidFill>
              </a:defRPr>
            </a:pPr>
            <a:r>
              <a:rPr sz="3225" b="1">
                <a:solidFill>
                  <a:srgbClr val="FFFFFF"/>
                </a:solidFill>
              </a:rPr>
              <a:t>layanan publik → akun → pengajuan → pengelolaan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BA411-451A-4A22-B656-2A3D1000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5DCE1"/>
                </a:solidFill>
              </a:defRPr>
            </a:pPr>
            <a:r>
              <a:rPr sz="1575" b="0">
                <a:solidFill>
                  <a:srgbClr val="C5DCE1"/>
                </a:solidFill>
              </a:rPr>
              <a:t>PPT ini menjadi peta navigasi untuk demonstrasi aplikasi. Tiap rute pada slide dapat dipakai sebagai urutan demo di komputer lokal atau situs live.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042A5-7D9C-452A-8217-CA99B0C3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F3940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855B4-7805-4358-82B1-A619E8B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FB00"/>
                </a:solidFill>
              </a:defRPr>
            </a:pPr>
            <a:r>
              <a:rPr sz="1500" b="1">
                <a:solidFill>
                  <a:srgbClr val="D6FB00"/>
                </a:solidFill>
              </a:rPr>
              <a:t>Mulai demo dari /golek_omah</a:t>
            </a:r>
          </a:p>
        </p:txBody>
      </p:sp>
    </p:spTree>
    <p:extLst>
      <p:ext uri="{BB962C8B-B14F-4D97-AF65-F5344CB8AC3E}">
        <p14:creationId xmlns:p14="http://schemas.microsoft.com/office/powerpoint/2010/main" val="1139683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2026-08-18T11:27:41.4870000Z</dcterms:created>
  <dcterms:modified xsi:type="dcterms:W3CDTF">2026-08-18T11:27:41.4870000Z</dcterms:modified>
</coreProperties>
</file>